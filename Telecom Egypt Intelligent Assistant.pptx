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90E05E-DAF8-4894-8E8A-5C58E13F7C0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18B678-7EA8-4B07-97CB-AA64BF0A443D}" type="pres">
      <dgm:prSet presAssocID="{1E90E05E-DAF8-4894-8E8A-5C58E13F7C0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27396FD2-EAA9-465D-85F0-251D3580ACF8}" type="presOf" srcId="{1E90E05E-DAF8-4894-8E8A-5C58E13F7C0C}" destId="{6118B678-7EA8-4B07-97CB-AA64BF0A443D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82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2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4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2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52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0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0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1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2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FF49E9-8CAA-457A-81D2-7E3C928A2207}" type="datetimeFigureOut">
              <a:rPr lang="en-US" smtClean="0"/>
              <a:t>08/04/2026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059876C-8908-4AAD-845C-F2EE7FE276B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0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0192" y="765530"/>
            <a:ext cx="10058400" cy="3566160"/>
          </a:xfrm>
        </p:spPr>
        <p:txBody>
          <a:bodyPr>
            <a:normAutofit fontScale="90000"/>
          </a:bodyPr>
          <a:lstStyle/>
          <a:p>
            <a:r>
              <a:rPr lang="en-US" sz="6700" b="1" dirty="0"/>
              <a:t>Telecom Egypt Intelligent Assistant </a:t>
            </a:r>
            <a:br>
              <a:rPr lang="en-US" sz="6700" b="1" dirty="0"/>
            </a:br>
            <a:r>
              <a:rPr lang="en-US" sz="6700" b="1" dirty="0"/>
              <a:t>RAG-Powered </a:t>
            </a:r>
            <a:r>
              <a:rPr lang="en-US" sz="6700" b="1" dirty="0" err="1" smtClean="0"/>
              <a:t>Chatbot</a:t>
            </a:r>
            <a:r>
              <a:rPr lang="en-US" sz="6700" b="1" dirty="0" smtClean="0"/>
              <a:t> </a:t>
            </a:r>
            <a:r>
              <a:rPr lang="en-US" sz="6700" b="1" dirty="0"/>
              <a:t>System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416150"/>
            <a:ext cx="10058400" cy="1143000"/>
          </a:xfrm>
        </p:spPr>
        <p:txBody>
          <a:bodyPr/>
          <a:lstStyle/>
          <a:p>
            <a:r>
              <a:rPr lang="en-US" dirty="0"/>
              <a:t>Prepared by: Mohamed Mostafa</a:t>
            </a:r>
          </a:p>
        </p:txBody>
      </p:sp>
    </p:spTree>
    <p:extLst>
      <p:ext uri="{BB962C8B-B14F-4D97-AF65-F5344CB8AC3E}">
        <p14:creationId xmlns:p14="http://schemas.microsoft.com/office/powerpoint/2010/main" val="1181858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Telecom Egypt receives thousands of customer inquiries daily regarding: </a:t>
            </a:r>
            <a:br>
              <a:rPr lang="en-US" dirty="0"/>
            </a:br>
            <a:r>
              <a:rPr lang="en-US" dirty="0"/>
              <a:t>- Mobile &amp; Internet plans </a:t>
            </a:r>
            <a:br>
              <a:rPr lang="en-US" dirty="0"/>
            </a:br>
            <a:r>
              <a:rPr lang="en-US" dirty="0"/>
              <a:t>- Billing &amp; payments </a:t>
            </a:r>
            <a:br>
              <a:rPr lang="en-US" dirty="0"/>
            </a:br>
            <a:r>
              <a:rPr lang="en-US" dirty="0"/>
              <a:t>- Technical support </a:t>
            </a: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Challenges: </a:t>
            </a:r>
            <a:br>
              <a:rPr lang="en-US" dirty="0"/>
            </a:br>
            <a:r>
              <a:rPr lang="en-US" dirty="0"/>
              <a:t>- High volume of repetitive questions </a:t>
            </a:r>
            <a:br>
              <a:rPr lang="en-US" dirty="0"/>
            </a:br>
            <a:r>
              <a:rPr lang="en-US" dirty="0"/>
              <a:t>- Multilingual queries (Arabic, English, Egyptian dialect) </a:t>
            </a:r>
            <a:br>
              <a:rPr lang="en-US" dirty="0"/>
            </a:br>
            <a:r>
              <a:rPr lang="en-US" dirty="0"/>
              <a:t>- Need for accurate and fast responses </a:t>
            </a:r>
          </a:p>
        </p:txBody>
      </p:sp>
    </p:spTree>
    <p:extLst>
      <p:ext uri="{BB962C8B-B14F-4D97-AF65-F5344CB8AC3E}">
        <p14:creationId xmlns:p14="http://schemas.microsoft.com/office/powerpoint/2010/main" val="186946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an AI-powered </a:t>
            </a:r>
            <a:r>
              <a:rPr lang="en-US" dirty="0" err="1"/>
              <a:t>chatbot</a:t>
            </a:r>
            <a:r>
              <a:rPr lang="en-US" dirty="0"/>
              <a:t> using RAG (Retrieval-Augmented Generation) that: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- Answers questions using official Telecom Egypt website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- Supports Arabic, English, and Egyptian dialect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- Allows document uploads for querying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- Provides accurate answers with sources </a:t>
            </a:r>
          </a:p>
        </p:txBody>
      </p:sp>
    </p:spTree>
    <p:extLst>
      <p:ext uri="{BB962C8B-B14F-4D97-AF65-F5344CB8AC3E}">
        <p14:creationId xmlns:p14="http://schemas.microsoft.com/office/powerpoint/2010/main" val="12318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Retrieval-Augmented Generation (RAG) is a technique that: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1. Retrieves relevant information from a knowledge base </a:t>
            </a: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2. Uses an LLM to generate answers based on that information </a:t>
            </a:r>
            <a:br>
              <a:rPr lang="en-US" dirty="0"/>
            </a:b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Benefits: </a:t>
            </a:r>
            <a:br>
              <a:rPr lang="en-US" dirty="0"/>
            </a:br>
            <a:r>
              <a:rPr lang="en-US" dirty="0"/>
              <a:t>- Reduces hallucinations </a:t>
            </a:r>
            <a:br>
              <a:rPr lang="en-US" dirty="0"/>
            </a:br>
            <a:r>
              <a:rPr lang="en-US" dirty="0"/>
              <a:t>- Ensures accurate answers </a:t>
            </a:r>
            <a:br>
              <a:rPr lang="en-US" dirty="0"/>
            </a:br>
            <a:r>
              <a:rPr lang="en-US" dirty="0"/>
              <a:t>- Provides source-based responses </a:t>
            </a:r>
          </a:p>
        </p:txBody>
      </p:sp>
    </p:spTree>
    <p:extLst>
      <p:ext uri="{BB962C8B-B14F-4D97-AF65-F5344CB8AC3E}">
        <p14:creationId xmlns:p14="http://schemas.microsoft.com/office/powerpoint/2010/main" val="278223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RAG </a:t>
            </a:r>
            <a:r>
              <a:rPr lang="en-US" dirty="0"/>
              <a:t>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User </a:t>
            </a:r>
            <a:r>
              <a:rPr lang="en-US" dirty="0"/>
              <a:t>→ Chat Interface → Backend (RAG System) → LLM </a:t>
            </a:r>
            <a:br>
              <a:rPr lang="en-US" dirty="0"/>
            </a:b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Steps: </a:t>
            </a:r>
            <a:br>
              <a:rPr lang="en-US" dirty="0"/>
            </a:br>
            <a:r>
              <a:rPr lang="en-US" dirty="0"/>
              <a:t>1. User sends query </a:t>
            </a:r>
            <a:br>
              <a:rPr lang="en-US" dirty="0"/>
            </a:br>
            <a:r>
              <a:rPr lang="en-US" dirty="0"/>
              <a:t>2. System retrieves relevant documents </a:t>
            </a:r>
            <a:br>
              <a:rPr lang="en-US" dirty="0"/>
            </a:br>
            <a:r>
              <a:rPr lang="en-US" dirty="0"/>
              <a:t>3. LLM generates answer </a:t>
            </a:r>
            <a:br>
              <a:rPr lang="en-US" dirty="0"/>
            </a:br>
            <a:r>
              <a:rPr lang="en-US" dirty="0"/>
              <a:t>4. Response returned with sources </a:t>
            </a:r>
          </a:p>
        </p:txBody>
      </p:sp>
    </p:spTree>
    <p:extLst>
      <p:ext uri="{BB962C8B-B14F-4D97-AF65-F5344CB8AC3E}">
        <p14:creationId xmlns:p14="http://schemas.microsoft.com/office/powerpoint/2010/main" val="68759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988" y="98676"/>
            <a:ext cx="10387586" cy="60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0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Primary Source: </a:t>
            </a:r>
            <a:endParaRPr lang="en-US" b="1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- Telecom Egypt Website (https://te.eg) </a:t>
            </a:r>
            <a:br>
              <a:rPr lang="en-US" dirty="0"/>
            </a:b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2. Additional Sources: </a:t>
            </a:r>
            <a:endParaRPr lang="en-US" b="1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- PDF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/>
              <a:t>DOCX </a:t>
            </a:r>
            <a:br>
              <a:rPr lang="en-US" dirty="0"/>
            </a:br>
            <a:r>
              <a:rPr lang="en-US" dirty="0"/>
              <a:t>- TXT </a:t>
            </a:r>
            <a:br>
              <a:rPr lang="en-US" dirty="0"/>
            </a:br>
            <a:r>
              <a:rPr lang="en-US" dirty="0"/>
              <a:t>- HTML </a:t>
            </a:r>
            <a:br>
              <a:rPr lang="en-US" dirty="0"/>
            </a:br>
            <a:r>
              <a:rPr lang="en-US" dirty="0"/>
              <a:t>- Images (OCR) </a:t>
            </a:r>
          </a:p>
        </p:txBody>
      </p:sp>
    </p:spTree>
    <p:extLst>
      <p:ext uri="{BB962C8B-B14F-4D97-AF65-F5344CB8AC3E}">
        <p14:creationId xmlns:p14="http://schemas.microsoft.com/office/powerpoint/2010/main" val="424404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04" y="302607"/>
            <a:ext cx="10821497" cy="568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62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smtClean="0"/>
              <a:t>Features</a:t>
            </a:r>
            <a:r>
              <a:rPr lang="ar-EG" dirty="0" smtClean="0"/>
              <a:t>  </a:t>
            </a:r>
            <a:r>
              <a:rPr lang="en-US" dirty="0" smtClean="0"/>
              <a:t>of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</a:t>
            </a:r>
            <a:r>
              <a:rPr lang="en-US" b="1" dirty="0" smtClean="0"/>
              <a:t>Multilingual </a:t>
            </a:r>
            <a:r>
              <a:rPr lang="en-US" b="1" dirty="0"/>
              <a:t>support (Arabic &amp; English) 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</a:t>
            </a:r>
            <a:r>
              <a:rPr lang="en-US" b="1" dirty="0"/>
              <a:t>Egyptian dialect understanding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</a:t>
            </a:r>
            <a:r>
              <a:rPr lang="en-US" b="1" dirty="0"/>
              <a:t>Document upload &amp; querying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</a:t>
            </a:r>
            <a:r>
              <a:rPr lang="en-US" b="1" dirty="0"/>
              <a:t>Source citation in answers 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Chat </a:t>
            </a:r>
            <a:r>
              <a:rPr lang="en-US" b="1" dirty="0"/>
              <a:t>interface </a:t>
            </a:r>
          </a:p>
        </p:txBody>
      </p:sp>
    </p:spTree>
    <p:extLst>
      <p:ext uri="{BB962C8B-B14F-4D97-AF65-F5344CB8AC3E}">
        <p14:creationId xmlns:p14="http://schemas.microsoft.com/office/powerpoint/2010/main" val="157896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Egyptian Dialect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01168" lvl="1" indent="0">
              <a:buNone/>
            </a:pPr>
            <a:r>
              <a:rPr lang="en-US" b="1" dirty="0"/>
              <a:t>Initial Approach: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Used Nile-Chat model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 Strong </a:t>
            </a:r>
            <a:r>
              <a:rPr lang="en-US" dirty="0"/>
              <a:t>performance in Egyptian </a:t>
            </a:r>
            <a:r>
              <a:rPr lang="en-US" dirty="0" smtClean="0"/>
              <a:t>dialect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Weak performance with English </a:t>
            </a:r>
            <a:r>
              <a:rPr lang="en-US" dirty="0" smtClean="0"/>
              <a:t>queries</a:t>
            </a:r>
          </a:p>
          <a:p>
            <a:pPr marL="201168" lvl="1" indent="0">
              <a:buNone/>
            </a:pPr>
            <a:endParaRPr lang="en-US" dirty="0" smtClean="0"/>
          </a:p>
          <a:p>
            <a:pPr marL="201168" lvl="1" indent="0">
              <a:buNone/>
            </a:pPr>
            <a:r>
              <a:rPr lang="en-US" b="1" dirty="0"/>
              <a:t>Final Approach: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Switched </a:t>
            </a:r>
            <a:r>
              <a:rPr lang="en-US" dirty="0"/>
              <a:t>to Gemma (gemma4:e2b)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Balanced performance for Arabic &amp; </a:t>
            </a:r>
            <a:r>
              <a:rPr lang="en-US" dirty="0" smtClean="0"/>
              <a:t>English</a:t>
            </a:r>
            <a:endParaRPr lang="en-US" dirty="0"/>
          </a:p>
          <a:p>
            <a:pPr marL="201168" lvl="1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Enhancements: 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Multilingual </a:t>
            </a:r>
            <a:r>
              <a:rPr lang="en-US" dirty="0" err="1"/>
              <a:t>embeddings</a:t>
            </a:r>
            <a:r>
              <a:rPr lang="en-US" dirty="0"/>
              <a:t>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Prompt engineering for dialect normalization </a:t>
            </a:r>
            <a:endParaRPr lang="en-US" dirty="0" smtClean="0"/>
          </a:p>
          <a:p>
            <a:pPr marL="201168" lvl="1" indent="0">
              <a:buNone/>
            </a:pPr>
            <a:endParaRPr lang="en-US" dirty="0" smtClean="0"/>
          </a:p>
          <a:p>
            <a:pPr marL="201168" lvl="1" indent="0">
              <a:buNone/>
            </a:pPr>
            <a:r>
              <a:rPr lang="en-US" b="1" dirty="0"/>
              <a:t>Result: 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Improved understanding of mixed-language queries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More consistent and accurate responses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13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40890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75" y="1925542"/>
            <a:ext cx="10058400" cy="424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55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97190"/>
            <a:ext cx="10058400" cy="3671903"/>
          </a:xfrm>
        </p:spPr>
        <p:txBody>
          <a:bodyPr/>
          <a:lstStyle/>
          <a:p>
            <a:pPr marL="0" indent="0" algn="ctr">
              <a:buNone/>
            </a:pPr>
            <a:r>
              <a:rPr lang="en-US" sz="9600" dirty="0" smtClean="0">
                <a:solidFill>
                  <a:srgbClr val="7030A0"/>
                </a:solidFill>
              </a:rPr>
              <a:t>Thank You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4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1157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</TotalTime>
  <Words>364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Times New Roman</vt:lpstr>
      <vt:lpstr>Wingdings</vt:lpstr>
      <vt:lpstr>Retrospect</vt:lpstr>
      <vt:lpstr>Telecom Egypt Intelligent Assistant  RAG-Powered Chatbot System  </vt:lpstr>
      <vt:lpstr>Problem Statement  </vt:lpstr>
      <vt:lpstr>Proposed Solution </vt:lpstr>
      <vt:lpstr>What is RAG?</vt:lpstr>
      <vt:lpstr>RAG Architecture </vt:lpstr>
      <vt:lpstr>PowerPoint Presentation</vt:lpstr>
      <vt:lpstr>Data Sources  </vt:lpstr>
      <vt:lpstr>PowerPoint Presentation</vt:lpstr>
      <vt:lpstr>Key Features  of System</vt:lpstr>
      <vt:lpstr>Handling Egyptian Dialect </vt:lpstr>
      <vt:lpstr>Challenges &amp; Solutions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Egypt Intelligent Assistant  RAG-Powered Chatbot System</dc:title>
  <dc:creator>Mohamed Mostafa Hussein</dc:creator>
  <cp:lastModifiedBy>Mohamed Mostafa Hussein</cp:lastModifiedBy>
  <cp:revision>8</cp:revision>
  <dcterms:created xsi:type="dcterms:W3CDTF">2026-04-08T13:13:17Z</dcterms:created>
  <dcterms:modified xsi:type="dcterms:W3CDTF">2026-04-08T16:13:03Z</dcterms:modified>
</cp:coreProperties>
</file>